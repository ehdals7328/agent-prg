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41c2f79725f5e93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41c2f79725f5e93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h41c2f79725f5e93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h41c2f79725f5e9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h41c2f79725f5e93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h41c2f79725f5e93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h9a3734c107d0de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h9a3734c107d0de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h9a3734c107d0de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h9a3734c107d0de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41c2f79725f5e93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h41c2f79725f5e93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h41c2f79725f5e93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h41c2f79725f5e93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41c2f79725f5e93c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h41c2f79725f5e93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41c2f79725f5e93c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h41c2f79725f5e93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9a3734c107d0ded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h9a3734c107d0ded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h9a3734c107d0ded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h9a3734c107d0ded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h41c2f79725f5e93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h41c2f79725f5e93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4200">
                <a:latin typeface="Malgun Gothic"/>
                <a:ea typeface="Malgun Gothic"/>
                <a:cs typeface="Malgun Gothic"/>
                <a:sym typeface="Malgun Gothic"/>
              </a:rPr>
              <a:t>ch03</a:t>
            </a:r>
            <a:endParaRPr sz="42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4200">
                <a:latin typeface="Malgun Gothic"/>
                <a:ea typeface="Malgun Gothic"/>
                <a:cs typeface="Malgun Gothic"/>
                <a:sym typeface="Malgun Gothic"/>
              </a:rPr>
              <a:t>ReAct / Function Calling Agent</a:t>
            </a:r>
            <a:endParaRPr sz="42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4200">
                <a:latin typeface="Malgun Gothic"/>
                <a:ea typeface="Malgun Gothic"/>
                <a:cs typeface="Malgun Gothic"/>
                <a:sym typeface="Malgun Gothic"/>
              </a:rPr>
              <a:t>UML 작성</a:t>
            </a:r>
            <a:endParaRPr sz="42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2026-10-21 </a:t>
            </a:r>
            <a:r>
              <a:rPr lang="ko"/>
              <a:t>노동민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311700" y="2244750"/>
            <a:ext cx="85206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ReAct Agent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" type="subTitle"/>
          </p:nvPr>
        </p:nvSpPr>
        <p:spPr>
          <a:xfrm>
            <a:off x="311700" y="262375"/>
            <a:ext cx="85206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ko">
                <a:solidFill>
                  <a:schemeClr val="dk1"/>
                </a:solidFill>
              </a:rPr>
              <a:t>Use-Case Diagram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9338" y="916375"/>
            <a:ext cx="6745314" cy="392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idx="1" type="subTitle"/>
          </p:nvPr>
        </p:nvSpPr>
        <p:spPr>
          <a:xfrm>
            <a:off x="311700" y="262375"/>
            <a:ext cx="85206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2. Activity Diagram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68775"/>
            <a:ext cx="8839199" cy="3654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idx="1" type="subTitle"/>
          </p:nvPr>
        </p:nvSpPr>
        <p:spPr>
          <a:xfrm>
            <a:off x="311700" y="262375"/>
            <a:ext cx="85206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ReAct Agent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8" name="Google Shape;78;p17"/>
          <p:cNvSpPr txBox="1"/>
          <p:nvPr/>
        </p:nvSpPr>
        <p:spPr>
          <a:xfrm>
            <a:off x="429050" y="892425"/>
            <a:ext cx="8332200" cy="38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질문입력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ko" sz="1800">
                <a:solidFill>
                  <a:schemeClr val="dk2"/>
                </a:solidFill>
              </a:rPr>
              <a:t>user_input, scratchpad 은</a:t>
            </a:r>
            <a:r>
              <a:rPr lang="ko" sz="1800">
                <a:solidFill>
                  <a:schemeClr val="dk2"/>
                </a:solidFill>
              </a:rPr>
              <a:t> _render_prompt() 함수로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ko" sz="1800">
                <a:solidFill>
                  <a:schemeClr val="dk2"/>
                </a:solidFill>
              </a:rPr>
              <a:t>도구리스트는 _format_tools_for_promt() 함수로 문자열변환 후 _render_promt()로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-&gt; LLM은 파이썬 코드를 실행할 권한이 없기 때문에 객체정보를 알지 못함. LLM이 읽을 수 있는 구조로 렌더링한 redered를 이용해 llm.invoke() 호출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질문해석 및 응답생성 (1차 LLM 응답)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ko" sz="1800">
                <a:solidFill>
                  <a:schemeClr val="dk2"/>
                </a:solidFill>
              </a:rPr>
              <a:t>제공된 정보를 바탕으로 어떤 도구를 사용하고 어떤 Input을 사용해야할지 스스로 추론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ko" sz="1800">
                <a:solidFill>
                  <a:schemeClr val="dk2"/>
                </a:solidFill>
              </a:rPr>
              <a:t>추론 결과를 프롬프트엔지니어링 한 형식으로 출력 -&gt; agent 가 코드를 실행해 정규식으로 정보 추출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idx="1" type="subTitle"/>
          </p:nvPr>
        </p:nvSpPr>
        <p:spPr>
          <a:xfrm>
            <a:off x="311700" y="262375"/>
            <a:ext cx="85206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ReAct Agent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4" name="Google Shape;84;p18"/>
          <p:cNvSpPr txBox="1"/>
          <p:nvPr/>
        </p:nvSpPr>
        <p:spPr>
          <a:xfrm>
            <a:off x="429050" y="892425"/>
            <a:ext cx="8332200" cy="38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추출된 정보는 tool 과 action_input 이며 이 값을 바탕으로 검사 실행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값을 추출해내는 함수인 _parse_action_and_input 은 LLM이 출력한 text 에서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Final answer 가 존재하면 tool 값에 “__FINAL__”을 저장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if 문을 활용해 최종답변이 존재하면 output을 리턴하고 종료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tool 에 도구의 이름이 정상적으로 들어 왔다면 observation(관측)값을 얻기 위해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tool_map[tool].invoke(action_input) 실행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</a:pPr>
            <a:r>
              <a:rPr lang="ko" sz="1800">
                <a:solidFill>
                  <a:schemeClr val="dk2"/>
                </a:solidFill>
              </a:rPr>
              <a:t>실행된 결과는 _observation_to_text()를 통해 LLM이 읽을 수 있는 text 형식으로 변환 (metadata,page_content 등의 요소를 꺼내 문자열로 변환 및 크기 조절)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idx="1" type="subTitle"/>
          </p:nvPr>
        </p:nvSpPr>
        <p:spPr>
          <a:xfrm>
            <a:off x="311700" y="262375"/>
            <a:ext cx="85206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3</a:t>
            </a:r>
            <a:r>
              <a:rPr lang="ko">
                <a:solidFill>
                  <a:schemeClr val="dk1"/>
                </a:solidFill>
              </a:rPr>
              <a:t>. Sequence Diagram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0" name="Google Shape;9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3075" y="991550"/>
            <a:ext cx="6917857" cy="3922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idx="1" type="subTitle"/>
          </p:nvPr>
        </p:nvSpPr>
        <p:spPr>
          <a:xfrm>
            <a:off x="311700" y="2244750"/>
            <a:ext cx="85206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Function Calling Agent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idx="1" type="subTitle"/>
          </p:nvPr>
        </p:nvSpPr>
        <p:spPr>
          <a:xfrm>
            <a:off x="311700" y="262375"/>
            <a:ext cx="85206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ko">
                <a:solidFill>
                  <a:schemeClr val="dk1"/>
                </a:solidFill>
              </a:rPr>
              <a:t>Use-Case Diagram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1" name="Google Shape;10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6725" y="986750"/>
            <a:ext cx="6550551" cy="3922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>
            <p:ph idx="1" type="subTitle"/>
          </p:nvPr>
        </p:nvSpPr>
        <p:spPr>
          <a:xfrm>
            <a:off x="311700" y="262375"/>
            <a:ext cx="85206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2. Activity Diagram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7" name="Google Shape;10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9800" y="1010850"/>
            <a:ext cx="7044389" cy="3922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/>
          <p:nvPr>
            <p:ph idx="1" type="subTitle"/>
          </p:nvPr>
        </p:nvSpPr>
        <p:spPr>
          <a:xfrm>
            <a:off x="311700" y="262375"/>
            <a:ext cx="85206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Function Calling Agent - ReAct</a:t>
            </a:r>
            <a:r>
              <a:rPr lang="ko">
                <a:solidFill>
                  <a:schemeClr val="dk1"/>
                </a:solidFill>
              </a:rPr>
              <a:t>와 비교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3" name="Google Shape;113;p23"/>
          <p:cNvSpPr txBox="1"/>
          <p:nvPr/>
        </p:nvSpPr>
        <p:spPr>
          <a:xfrm>
            <a:off x="429050" y="892425"/>
            <a:ext cx="8332200" cy="38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@tool 은 개발자가 작성한 함수를 agent가 활용할 수 있는 도구로 만들어줌.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(JSON 형식의 스키마로 변환해주는 기능을 제공)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ConversationManager 는 왜 Class로 정의 되어 있는가?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-&gt; 사용자 세션별로 개별적인 히스토리와 질의를 처리하기 위함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사용자 질의 입력시 chat_history에 append 되는 구조의 이유?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-&gt; 첫 질문 이후에 LLM이 과거 문맥을 파악할 수 있게 해줌.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log 의 messages 는 </a:t>
            </a:r>
            <a:br>
              <a:rPr lang="ko" sz="1800">
                <a:solidFill>
                  <a:schemeClr val="dk2"/>
                </a:solidFill>
              </a:rPr>
            </a:br>
            <a:r>
              <a:rPr lang="ko" sz="1800">
                <a:solidFill>
                  <a:schemeClr val="dk2"/>
                </a:solidFill>
              </a:rPr>
              <a:t>사용자 질의 - HumanMessage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LLM의 답변 - AIMessage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도구의 결과 - ToolMessage 로 이루어져 있음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" type="subTitle"/>
          </p:nvPr>
        </p:nvSpPr>
        <p:spPr>
          <a:xfrm>
            <a:off x="311700" y="262375"/>
            <a:ext cx="85206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Function Calling Agent - ReAct와 비교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9" name="Google Shape;119;p24"/>
          <p:cNvSpPr txBox="1"/>
          <p:nvPr/>
        </p:nvSpPr>
        <p:spPr>
          <a:xfrm>
            <a:off x="429050" y="892425"/>
            <a:ext cx="8332200" cy="38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JSON 형식의 출력(Function Call)은 개발자가 직접 문자를 정규식으로 파싱하지 않아도, 구조화된 출력으로 값을 검증, 저장하기 용이 (if hasattr(msg, ‘tool calls’) and msg.tool_calls: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5"/>
          <p:cNvSpPr txBox="1"/>
          <p:nvPr>
            <p:ph idx="1" type="subTitle"/>
          </p:nvPr>
        </p:nvSpPr>
        <p:spPr>
          <a:xfrm>
            <a:off x="311700" y="262375"/>
            <a:ext cx="85206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3. Sequence Diagram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5" name="Google Shape;12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6525" y="916375"/>
            <a:ext cx="7130953" cy="3922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